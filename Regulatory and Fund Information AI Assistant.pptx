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Calibri" pitchFamily="34" charset="0"/>
      <p:regular r:id="rId14"/>
      <p:bold r:id="rId15"/>
      <p:italic r:id="rId16"/>
      <p:boldItalic r:id="rId17"/>
    </p:embeddedFont>
    <p:embeddedFont>
      <p:font typeface="Instrument Sans Medium" charset="0"/>
      <p:regular r:id="rId18"/>
    </p:embeddedFont>
    <p:embeddedFont>
      <p:font typeface="Instrument Sans SemiBold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-516" y="-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00FD8E-7FAA-484B-96CC-D940AC677FC9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8B39BE-1502-4D79-94DA-F678E9E0F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208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-2-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2-3.svg"/><Relationship Id="rId5" Type="http://schemas.openxmlformats.org/officeDocument/2006/relationships/image" Target="../media/image-2-3.sv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-4-6.svg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4-4.svg"/><Relationship Id="rId11" Type="http://schemas.openxmlformats.org/officeDocument/2006/relationships/image" Target="../media/image4.PNG"/><Relationship Id="rId5" Type="http://schemas.openxmlformats.org/officeDocument/2006/relationships/image" Target="../media/image8.png"/><Relationship Id="rId10" Type="http://schemas.openxmlformats.org/officeDocument/2006/relationships/image" Target="../media/image-4-8.svg"/><Relationship Id="rId4" Type="http://schemas.openxmlformats.org/officeDocument/2006/relationships/image" Target="../media/image-4-2.sv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-6-7.svg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6-3.svg"/><Relationship Id="rId5" Type="http://schemas.openxmlformats.org/officeDocument/2006/relationships/image" Target="../media/image-6-3.sv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2E3E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2652911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Regulatory &amp; Fund-Information AI Assistant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3909814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Phase 1  Proposal </a:t>
            </a:r>
            <a:r>
              <a:rPr lang="en-US" sz="1850" dirty="0" smtClean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for </a:t>
            </a:r>
            <a:r>
              <a:rPr lang="en-US" sz="18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Central Depository Company (CDC)</a:t>
            </a:r>
            <a:endParaRPr lang="en-US" sz="185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3699" y="6400740"/>
            <a:ext cx="2753109" cy="4191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2E3E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144389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Tracking regulatory updates is manual, slow, and easy to fall behind on</a:t>
            </a:r>
            <a:endParaRPr lang="en-US" sz="37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2315" y="3209230"/>
            <a:ext cx="283461" cy="2834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75723" y="3199805"/>
            <a:ext cx="568261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Staff manually monitor SECP circulars and regulator notices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2315" y="4163715"/>
            <a:ext cx="283461" cy="28346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75723" y="4154289"/>
            <a:ext cx="568261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Time-consuming to read and cross-check</a:t>
            </a:r>
            <a:endParaRPr lang="en-US" sz="14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2315" y="5118199"/>
            <a:ext cx="283461" cy="28346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275723" y="5108773"/>
            <a:ext cx="568261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Hard to quickly trace back to the original source when needed for audit/investor queries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051546"/>
            <a:ext cx="10868745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An AI assistant that answers regulatory questions instantly </a:t>
            </a:r>
            <a:r>
              <a:rPr lang="en-US" sz="37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</a:t>
            </a:r>
            <a:r>
              <a:rPr lang="en-US" sz="3700" dirty="0" smtClean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with </a:t>
            </a:r>
            <a:r>
              <a:rPr lang="en-US" sz="37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 citation to the source, every time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4201517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Staff ask a question in plain language and get an answer sourced only from official public documents (SECP circulars, CDC's own public site, national regulator sites)</a:t>
            </a:r>
            <a:endParaRPr lang="en-US" sz="145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3699" y="6388040"/>
            <a:ext cx="2753109" cy="4191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55490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Zero access to internal systems or data </a:t>
            </a:r>
            <a:endParaRPr lang="en-US" sz="3700" dirty="0" smtClean="0">
              <a:solidFill>
                <a:srgbClr val="505468"/>
              </a:solidFill>
              <a:latin typeface="Instrument Sans SemiBold" pitchFamily="34" charset="0"/>
              <a:ea typeface="Instrument Sans SemiBold" pitchFamily="34" charset="-122"/>
              <a:cs typeface="Instrument Sans SemiBold" pitchFamily="34" charset="-120"/>
            </a:endParaRPr>
          </a:p>
          <a:p>
            <a:pPr marL="0" indent="0" algn="l">
              <a:lnSpc>
                <a:spcPct val="104000"/>
              </a:lnSpc>
              <a:buNone/>
            </a:pPr>
            <a:r>
              <a:rPr lang="en-US" sz="3700" dirty="0" smtClean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</a:t>
            </a:r>
            <a:r>
              <a:rPr lang="en-US" sz="37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by design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414812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0177" y="3414812"/>
            <a:ext cx="460750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Reads only from a public, whitelisted source list</a:t>
            </a:r>
            <a:endParaRPr lang="en-US" sz="14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3915" y="3414812"/>
            <a:ext cx="472468" cy="4724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922617" y="3414812"/>
            <a:ext cx="460760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 connection to internal documents, CRM, recordings, or reporting systems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397673"/>
            <a:ext cx="472468" cy="4724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370177" y="4397673"/>
            <a:ext cx="460750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 personalization or query history stored in Phase 1 (</a:t>
            </a:r>
            <a:r>
              <a:rPr lang="en-US" sz="1450" dirty="0" smtClean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session only </a:t>
            </a: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memory)</a:t>
            </a:r>
            <a:endParaRPr lang="en-US" sz="14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13915" y="4397673"/>
            <a:ext cx="472468" cy="47248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922617" y="4397673"/>
            <a:ext cx="460760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Every answer traceable back to a specific public source document</a:t>
            </a:r>
            <a:endParaRPr lang="en-US" sz="145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3699" y="6388040"/>
            <a:ext cx="2753109" cy="4191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9944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How It Works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068116"/>
            <a:ext cx="5434373" cy="7560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482" y="3013174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Step 1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50482" y="3421856"/>
            <a:ext cx="505635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Public sources are automatically checked for updates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8" y="2068116"/>
            <a:ext cx="5434373" cy="7560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84854" y="3013174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Step 2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284854" y="3421856"/>
            <a:ext cx="505635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New documents are read and indexed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3913287"/>
            <a:ext cx="5434373" cy="7560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50482" y="4858345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Step 3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50482" y="5267027"/>
            <a:ext cx="505635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Staff ask a question in plain language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848" y="3913287"/>
            <a:ext cx="5434373" cy="75604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84854" y="4858345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Step 4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284854" y="5267027"/>
            <a:ext cx="505635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Assistant answers with a citation to the exact source</a:t>
            </a:r>
            <a:endParaRPr lang="en-US" sz="1450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3699" y="6388040"/>
            <a:ext cx="2753109" cy="41915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2E3E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964208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 simple chat assistant for compliance, admin, and </a:t>
            </a:r>
            <a:r>
              <a:rPr lang="en-US" sz="3700" dirty="0" smtClean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investor relations </a:t>
            </a:r>
            <a:r>
              <a:rPr lang="en-US" sz="37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staff</a:t>
            </a:r>
            <a:endParaRPr lang="en-US" sz="37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019623"/>
            <a:ext cx="6296860" cy="73124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77479" y="3234035"/>
            <a:ext cx="576644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Instant answers instead of manual document searches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939877"/>
            <a:ext cx="6296860" cy="73124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77479" y="4154289"/>
            <a:ext cx="576644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Always cites its source for easy verification</a:t>
            </a:r>
            <a:endParaRPr lang="en-US" sz="14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860131"/>
            <a:ext cx="6296860" cy="1033661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77479" y="5074543"/>
            <a:ext cx="576644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Available as a plain text chat interface, no new complex software to learn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54398"/>
            <a:ext cx="11721025" cy="901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400" dirty="0" smtClean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Timeline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61475" y="2917527"/>
            <a:ext cx="10868745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4–5 weeks</a:t>
            </a:r>
            <a:endParaRPr lang="en-US" sz="4900" dirty="0"/>
          </a:p>
        </p:txBody>
      </p:sp>
      <p:sp>
        <p:nvSpPr>
          <p:cNvPr id="4" name="Text 2"/>
          <p:cNvSpPr/>
          <p:nvPr/>
        </p:nvSpPr>
        <p:spPr>
          <a:xfrm>
            <a:off x="661475" y="3777456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Build Timeline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4186138"/>
            <a:ext cx="1086874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endParaRPr lang="en-US" sz="145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3699" y="6388040"/>
            <a:ext cx="2753109" cy="41915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11901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Key Risks &amp; How They're Managed</a:t>
            </a:r>
            <a:endParaRPr lang="en-US" sz="3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3087688"/>
          <a:ext cx="10868745" cy="1638457"/>
        </p:xfrm>
        <a:graphic>
          <a:graphicData uri="http://schemas.openxmlformats.org/drawingml/2006/table">
            <a:tbl>
              <a:tblPr/>
              <a:tblGrid>
                <a:gridCol w="4347498"/>
                <a:gridCol w="6521247"/>
              </a:tblGrid>
              <a:tr h="5450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5B5F71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Scanned/messy regulator PDFs</a:t>
                      </a:r>
                      <a:endParaRPr lang="en-US" sz="14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5B5F71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Add OCR text-recognition step</a:t>
                      </a:r>
                      <a:endParaRPr lang="en-US" sz="14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482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5B5F71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AI answering from guesswork</a:t>
                      </a:r>
                      <a:endParaRPr lang="en-US" sz="14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5B5F71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Strict rule: answer only from cited sources, or say 'I don't know'</a:t>
                      </a:r>
                      <a:endParaRPr lang="en-US" sz="14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450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5B5F71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Source websites changing</a:t>
                      </a:r>
                      <a:endParaRPr lang="en-US" sz="14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5B5F71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Modular design per source, with failure alerts</a:t>
                      </a:r>
                      <a:endParaRPr lang="en-US" sz="14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61475" y="3620968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661475" y="4169237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3699" y="6388040"/>
            <a:ext cx="2753109" cy="41915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498130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Phase 2 will be proposed separately, once Phase 1 is live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4057452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Wider source coverage, proactive compliance alerts, and staff personalization — still with zero internal data access</a:t>
            </a:r>
            <a:endParaRPr lang="en-US" sz="145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3699" y="6388040"/>
            <a:ext cx="2753109" cy="41915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6650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What we're asking for today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835176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01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3131046"/>
            <a:ext cx="3496877" cy="25400"/>
          </a:xfrm>
          <a:prstGeom prst="rect">
            <a:avLst/>
          </a:prstGeom>
          <a:solidFill>
            <a:srgbClr val="5B5F72"/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3276302"/>
            <a:ext cx="349687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Approve Phase 1 build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347359" y="2835176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02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347359" y="3131046"/>
            <a:ext cx="3496877" cy="25400"/>
          </a:xfrm>
          <a:prstGeom prst="rect">
            <a:avLst/>
          </a:prstGeom>
          <a:solidFill>
            <a:srgbClr val="5B5F72"/>
          </a:solidFill>
          <a:ln/>
        </p:spPr>
      </p:sp>
      <p:sp>
        <p:nvSpPr>
          <p:cNvPr id="8" name="Text 6"/>
          <p:cNvSpPr/>
          <p:nvPr/>
        </p:nvSpPr>
        <p:spPr>
          <a:xfrm>
            <a:off x="4347359" y="3276302"/>
            <a:ext cx="3496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Confirm the source whitelist with compliance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033244" y="2835176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03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033244" y="3149997"/>
            <a:ext cx="3496877" cy="25400"/>
          </a:xfrm>
          <a:prstGeom prst="rect">
            <a:avLst/>
          </a:prstGeom>
          <a:solidFill>
            <a:srgbClr val="5B5F72"/>
          </a:solidFill>
          <a:ln/>
        </p:spPr>
      </p:sp>
      <p:sp>
        <p:nvSpPr>
          <p:cNvPr id="11" name="Text 9"/>
          <p:cNvSpPr/>
          <p:nvPr/>
        </p:nvSpPr>
        <p:spPr>
          <a:xfrm>
            <a:off x="8033244" y="3276302"/>
            <a:ext cx="349687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Agree a pilot group of staff to test with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4216598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E2E3E9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4484291"/>
            <a:ext cx="236234" cy="18901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275723" y="4471690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 internal data. No system access. Just faster, safer access to information that's already public.</a:t>
            </a:r>
            <a:endParaRPr lang="en-US" sz="1450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3699" y="6388040"/>
            <a:ext cx="2753109" cy="41915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2E3E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613819"/>
            <a:ext cx="6296860" cy="1630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1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Thank you </a:t>
            </a:r>
            <a:r>
              <a:rPr lang="en-US" sz="5100" dirty="0" smtClean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questions </a:t>
            </a:r>
            <a:r>
              <a:rPr lang="en-US" sz="51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welcome</a:t>
            </a:r>
            <a:endParaRPr lang="en-US" sz="5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379</Words>
  <Application>Microsoft Office PowerPoint</Application>
  <PresentationFormat>Custom</PresentationFormat>
  <Paragraphs>59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Instrument Sans</vt:lpstr>
      <vt:lpstr>Instrument Sans Medium</vt:lpstr>
      <vt:lpstr>Instrument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PapadWala</dc:creator>
  <cp:lastModifiedBy>waqar com</cp:lastModifiedBy>
  <cp:revision>3</cp:revision>
  <dcterms:created xsi:type="dcterms:W3CDTF">2026-09-16T11:33:17Z</dcterms:created>
  <dcterms:modified xsi:type="dcterms:W3CDTF">2026-10-05T10:03:46Z</dcterms:modified>
</cp:coreProperties>
</file>